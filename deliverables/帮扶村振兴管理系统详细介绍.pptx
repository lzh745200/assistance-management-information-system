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19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19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0972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微软雅黑"/>
              </a:defRPr>
            </a:pPr>
            <a:r>
              <a:t>帮扶村振兴管理系统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E19A25"/>
                </a:solidFill>
                <a:latin typeface="微软雅黑"/>
              </a:defRPr>
            </a:pPr>
            <a:r>
              <a:t>Assistance Management Information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DB5BD"/>
                </a:solidFill>
                <a:latin typeface="微软雅黑"/>
              </a:defRPr>
            </a:pPr>
            <a:r>
              <a:t>军民融合 · 乡村振兴 · 数字化管理 · 离线安全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3931920"/>
            <a:ext cx="3962095" cy="27432"/>
          </a:xfrm>
          <a:prstGeom prst="rect">
            <a:avLst/>
          </a:prstGeom>
          <a:solidFill>
            <a:srgbClr val="E19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DB5BD"/>
                </a:solidFill>
                <a:latin typeface="微软雅黑"/>
              </a:defRPr>
            </a:pPr>
            <a:r>
              <a:t>Vue 3 + FastAPI + Electron + SQLite | 完全离线单机部署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303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DB5BD"/>
                </a:solidFill>
                <a:latin typeface="微软雅黑"/>
              </a:defRPr>
            </a:pPr>
            <a:r>
              <a:t>版本 v1.4.2  |  2026年7月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19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19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微软雅黑"/>
              </a:defRPr>
            </a:pPr>
            <a:r>
              <a:t>目  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828800" cy="45720"/>
          </a:xfrm>
          <a:prstGeom prst="rect">
            <a:avLst/>
          </a:prstGeom>
          <a:solidFill>
            <a:srgbClr val="E19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146304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微软雅黑"/>
              </a:defRPr>
            </a:pPr>
            <a:r>
              <a:t>01  项目背景与建设目标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微软雅黑"/>
              </a:defRPr>
            </a:pPr>
            <a:r>
              <a:t>02  系统概述与适用场景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微软雅黑"/>
              </a:defRPr>
            </a:pPr>
            <a:r>
              <a:t>03  技术架构设计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微软雅黑"/>
              </a:defRPr>
            </a:pPr>
            <a:r>
              <a:t>04  核心功能 — 帮扶村管理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微软雅黑"/>
              </a:defRPr>
            </a:pPr>
            <a:r>
              <a:t>05  核心功能 — 资金全生命周期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微软雅黑"/>
              </a:defRPr>
            </a:pPr>
            <a:r>
              <a:t>06  核心功能 — 项目与审批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微软雅黑"/>
              </a:defRPr>
            </a:pPr>
            <a:r>
              <a:t>07  核心功能 — 数据分析与AI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微软雅黑"/>
              </a:defRPr>
            </a:pPr>
            <a:r>
              <a:t>08  安全体系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微软雅黑"/>
              </a:defRPr>
            </a:pPr>
            <a:r>
              <a:t>09  部署与运维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微软雅黑"/>
              </a:defRPr>
            </a:pPr>
            <a:r>
              <a:t>10  项目质量保障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微软雅黑"/>
              </a:defRPr>
            </a:pPr>
            <a:r>
              <a:t>11  总结与展望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19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19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微软雅黑"/>
              </a:defRPr>
            </a:pPr>
            <a:r>
              <a:t>项目背景与建设目标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828800" cy="45720"/>
          </a:xfrm>
          <a:prstGeom prst="rect">
            <a:avLst/>
          </a:prstGeom>
          <a:solidFill>
            <a:srgbClr val="E19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FFFFFF"/>
                </a:solidFill>
                <a:latin typeface="微软雅黑"/>
              </a:defRPr>
            </a:pPr>
            <a:r>
              <a:t>📌 战略背景</a:t>
            </a:r>
          </a:p>
          <a:p>
            <a:pPr>
              <a:spcAft>
                <a:spcPts val="500"/>
              </a:spcAft>
              <a:defRPr sz="1600">
                <a:solidFill>
                  <a:srgbClr val="FFFFFF"/>
                </a:solidFill>
                <a:latin typeface="微软雅黑"/>
              </a:defRPr>
            </a:pPr>
            <a:r>
              <a:t>  • 军民融合深度发展国家战略</a:t>
            </a:r>
          </a:p>
          <a:p>
            <a:pPr>
              <a:spcAft>
                <a:spcPts val="500"/>
              </a:spcAft>
              <a:defRPr sz="1600">
                <a:solidFill>
                  <a:srgbClr val="FFFFFF"/>
                </a:solidFill>
                <a:latin typeface="微软雅黑"/>
              </a:defRPr>
            </a:pPr>
            <a:r>
              <a:t>  • 乡村振兴全面推进</a:t>
            </a:r>
          </a:p>
          <a:p>
            <a:pPr>
              <a:spcAft>
                <a:spcPts val="500"/>
              </a:spcAft>
              <a:defRPr sz="1600">
                <a:solidFill>
                  <a:srgbClr val="FFFFFF"/>
                </a:solidFill>
                <a:latin typeface="微软雅黑"/>
              </a:defRPr>
            </a:pPr>
            <a:r>
              <a:t>  • 部队帮扶工作信息化需求迫切</a:t>
            </a:r>
          </a:p>
          <a:p>
            <a:pPr>
              <a:spcAft>
                <a:spcPts val="500"/>
              </a:spcAft>
              <a:defRPr sz="1600">
                <a:solidFill>
                  <a:srgbClr val="FFFFFF"/>
                </a:solidFill>
                <a:latin typeface="微软雅黑"/>
              </a:defRPr>
            </a:pPr>
          </a:p>
          <a:p>
            <a:pPr>
              <a:spcAft>
                <a:spcPts val="500"/>
              </a:spcAft>
              <a:defRPr sz="1600">
                <a:solidFill>
                  <a:srgbClr val="FFFFFF"/>
                </a:solidFill>
                <a:latin typeface="微软雅黑"/>
              </a:defRPr>
            </a:pPr>
            <a:r>
              <a:t>🎯 建设目标</a:t>
            </a:r>
          </a:p>
          <a:p>
            <a:pPr>
              <a:spcAft>
                <a:spcPts val="500"/>
              </a:spcAft>
              <a:defRPr sz="1600">
                <a:solidFill>
                  <a:srgbClr val="FFFFFF"/>
                </a:solidFill>
                <a:latin typeface="微软雅黑"/>
              </a:defRPr>
            </a:pPr>
            <a:r>
              <a:t>  • 帮扶村基础数据全面数字化</a:t>
            </a:r>
          </a:p>
          <a:p>
            <a:pPr>
              <a:spcAft>
                <a:spcPts val="500"/>
              </a:spcAft>
              <a:defRPr sz="1600">
                <a:solidFill>
                  <a:srgbClr val="FFFFFF"/>
                </a:solidFill>
                <a:latin typeface="微软雅黑"/>
              </a:defRPr>
            </a:pPr>
            <a:r>
              <a:t>  • 帮扶项目全流程闭环管理</a:t>
            </a:r>
          </a:p>
          <a:p>
            <a:pPr>
              <a:spcAft>
                <a:spcPts val="500"/>
              </a:spcAft>
              <a:defRPr sz="1600">
                <a:solidFill>
                  <a:srgbClr val="FFFFFF"/>
                </a:solidFill>
                <a:latin typeface="微软雅黑"/>
              </a:defRPr>
            </a:pPr>
            <a:r>
              <a:t>  • 帮扶资金全生命周期追踪</a:t>
            </a:r>
          </a:p>
          <a:p>
            <a:pPr>
              <a:spcAft>
                <a:spcPts val="500"/>
              </a:spcAft>
              <a:defRPr sz="1600">
                <a:solidFill>
                  <a:srgbClr val="FFFFFF"/>
                </a:solidFill>
                <a:latin typeface="微软雅黑"/>
              </a:defRPr>
            </a:pPr>
            <a:r>
              <a:t>  • 帮扶成效多维度分析评估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71600"/>
            <a:ext cx="5029200" cy="411480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87452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19A25"/>
                </a:solidFill>
                <a:latin typeface="微软雅黑"/>
              </a:defRPr>
            </a:pPr>
            <a:r>
              <a:t>核心痛点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240280"/>
            <a:ext cx="46634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❶ 帮扶数据分散在纸质台账和Excel中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❷ 资金使用缺乏全流程追踪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❸ 帮扶成效难以量化评估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❹ 多级单位间数据交换不安全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❺ 涉密环境无法使用云端系统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✅ 本系统逐一解决以上痛点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19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19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微软雅黑"/>
              </a:defRPr>
            </a:pPr>
            <a:r>
              <a:t>系统概述与适用场景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828800" cy="45720"/>
          </a:xfrm>
          <a:prstGeom prst="rect">
            <a:avLst/>
          </a:prstGeom>
          <a:solidFill>
            <a:srgbClr val="E19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3474720" cy="228600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745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19A25"/>
                </a:solidFill>
                <a:latin typeface="微软雅黑"/>
              </a:defRPr>
            </a:pPr>
            <a:r>
              <a:t>系统定位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面向军队单位帮扶乡村工作的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综合管理平台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完全离线、单机部署、数据安全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371600"/>
            <a:ext cx="3474720" cy="228600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8745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19A25"/>
                </a:solidFill>
                <a:latin typeface="微软雅黑"/>
              </a:defRPr>
            </a:pPr>
            <a:r>
              <a:t>适用场景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24028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• 部队帮扶乡村振兴工作管理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• 军民共建学校管理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• 帮扶资金预算与审计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• 多级单位间加密数据交换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371600"/>
            <a:ext cx="3474720" cy="228600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8745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19A25"/>
                </a:solidFill>
                <a:latin typeface="微软雅黑"/>
              </a:defRPr>
            </a:pPr>
            <a:r>
              <a:t>用户群体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24028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• 超级管理员：系统全权限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• 单位管理员：本单位数据管理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• 业务经理：审批与数据分析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• 普通用户：数据录入与查看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931920"/>
            <a:ext cx="10972800" cy="228600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43484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19A25"/>
                </a:solidFill>
                <a:latin typeface="微软雅黑"/>
              </a:defRPr>
            </a:pPr>
            <a:r>
              <a:t>核心功能一览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10607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🏘️ 帮扶村管理（10大板块年度数据）  💰 资金全生命周期（预算→审批→拨付→使用→结算→审计）  📋 项目管理（任务/里程碑/附件）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🏫 学校共建（奖学金/附件/统计）  ✅ 多级审批工作流  📊 数据分析看板（KPI/趋势/对比）  🗺️ 地图可视化（离线瓦片）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🤖 AI辅助分析（预测/异常检测/建议）  🔐 安全体系（JWT/2FA/RBAC/零信任/加密）  📦 加密数据包交换  📑 报表导出（Excel/PDF）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19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19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微软雅黑"/>
              </a:defRPr>
            </a:pPr>
            <a:r>
              <a:t>技术架构设计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828800" cy="45720"/>
          </a:xfrm>
          <a:prstGeom prst="rect">
            <a:avLst/>
          </a:prstGeom>
          <a:solidFill>
            <a:srgbClr val="E19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1371600"/>
            <a:ext cx="9418320" cy="91440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417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19A25"/>
                </a:solidFill>
                <a:latin typeface="微软雅黑"/>
              </a:defRPr>
            </a:pPr>
            <a:r>
              <a:t>桌面层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41732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Electron 28 + NSIS安装包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82880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DB5BD"/>
                </a:solidFill>
                <a:latin typeface="微软雅黑"/>
              </a:defRPr>
            </a:pPr>
            <a:r>
              <a:t>跨平台桌面应用，系统托盘，自动更新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2560320"/>
            <a:ext cx="9418320" cy="91440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0" y="2606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19A25"/>
                </a:solidFill>
                <a:latin typeface="微软雅黑"/>
              </a:defRPr>
            </a:pPr>
            <a:r>
              <a:t>前端层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60604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Vue 3 + TypeScript + Element Plus + ECharts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01752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DB5BD"/>
                </a:solidFill>
                <a:latin typeface="微软雅黑"/>
              </a:defRPr>
            </a:pPr>
            <a:r>
              <a:t>响应式SPA，Pinia状态管理，路由懒加载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0" y="3749039"/>
            <a:ext cx="9418320" cy="91440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45920" y="379475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19A25"/>
                </a:solidFill>
                <a:latin typeface="微软雅黑"/>
              </a:defRPr>
            </a:pPr>
            <a:r>
              <a:t>后端层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794759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FastAPI + SQLAlchemy 2.0 + Pydantic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4206239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DB5BD"/>
                </a:solidFill>
                <a:latin typeface="微软雅黑"/>
              </a:defRPr>
            </a:pPr>
            <a:r>
              <a:t>RESTful API 699端点，JWT认证，RBAC权限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71600" y="4937760"/>
            <a:ext cx="9418320" cy="91440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45920" y="4983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19A25"/>
                </a:solidFill>
                <a:latin typeface="微软雅黑"/>
              </a:defRPr>
            </a:pPr>
            <a:r>
              <a:t>数据层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498348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SQLite WAL + Alembic迁移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53949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DB5BD"/>
                </a:solidFill>
                <a:latin typeface="微软雅黑"/>
              </a:defRPr>
            </a:pPr>
            <a:r>
              <a:t>单文件数据库，AES-256加密，自动备份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22860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19A25"/>
                </a:solidFill>
                <a:latin typeface="微软雅黑"/>
              </a:defRPr>
            </a:pPr>
            <a:r>
              <a:t>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34747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19A25"/>
                </a:solidFill>
                <a:latin typeface="微软雅黑"/>
              </a:defRPr>
            </a:pPr>
            <a:r>
              <a:t>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46634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19A25"/>
                </a:solidFill>
                <a:latin typeface="微软雅黑"/>
              </a:defRPr>
            </a:pPr>
            <a:r>
              <a:t>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19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19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微软雅黑"/>
              </a:defRPr>
            </a:pPr>
            <a:r>
              <a:t>核心功能 — 帮扶村管理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828800" cy="45720"/>
          </a:xfrm>
          <a:prstGeom prst="rect">
            <a:avLst/>
          </a:prstGeom>
          <a:solidFill>
            <a:srgbClr val="E19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2103120" cy="228600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19A25"/>
                </a:solidFill>
                <a:latin typeface="微软雅黑"/>
              </a:defRPr>
            </a:pPr>
            <a:r>
              <a:t>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19A25"/>
                </a:solidFill>
                <a:latin typeface="微软雅黑"/>
              </a:defRPr>
            </a:pPr>
            <a:r>
              <a:t>人口数据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40280"/>
            <a:ext cx="1737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总户数/总人数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常住人口/劳动力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1371600"/>
            <a:ext cx="2103120" cy="228600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0" y="1508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19A25"/>
                </a:solidFill>
                <a:latin typeface="微软雅黑"/>
              </a:defRPr>
            </a:pPr>
            <a:r>
              <a:t>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18745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19A25"/>
                </a:solidFill>
                <a:latin typeface="微软雅黑"/>
              </a:defRPr>
            </a:pPr>
            <a:r>
              <a:t>收入数据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240280"/>
            <a:ext cx="1737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人均纯收入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集体经济收入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1371600"/>
            <a:ext cx="2103120" cy="228600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80" y="1508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19A25"/>
                </a:solidFill>
                <a:latin typeface="微软雅黑"/>
              </a:defRPr>
            </a:pPr>
            <a:r>
              <a:t>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18745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19A25"/>
                </a:solidFill>
                <a:latin typeface="微软雅黑"/>
              </a:defRPr>
            </a:pPr>
            <a:r>
              <a:t>产业帮扶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2240280"/>
            <a:ext cx="1737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产业类型/投入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带动就业人数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0" y="1371600"/>
            <a:ext cx="2103120" cy="228600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0" y="1508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19A25"/>
                </a:solidFill>
                <a:latin typeface="微软雅黑"/>
              </a:defRPr>
            </a:pPr>
            <a:r>
              <a:t>🏗️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0" y="18745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19A25"/>
                </a:solidFill>
                <a:latin typeface="微软雅黑"/>
              </a:defRPr>
            </a:pPr>
            <a:r>
              <a:t>基础设施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0" y="2240280"/>
            <a:ext cx="1737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道路/水利/电力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住房改造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01200" y="1371600"/>
            <a:ext cx="2103120" cy="228600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4080" y="1508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19A25"/>
                </a:solidFill>
                <a:latin typeface="微软雅黑"/>
              </a:defRPr>
            </a:pPr>
            <a:r>
              <a:t>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18745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19A25"/>
                </a:solidFill>
                <a:latin typeface="微软雅黑"/>
              </a:defRPr>
            </a:pPr>
            <a:r>
              <a:t>党建引领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0" y="2240280"/>
            <a:ext cx="1737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党员人数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组织建设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931920"/>
            <a:ext cx="2103120" cy="228600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0690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19A25"/>
                </a:solidFill>
                <a:latin typeface="微软雅黑"/>
              </a:defRPr>
            </a:pPr>
            <a:r>
              <a:t>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4348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19A25"/>
                </a:solidFill>
                <a:latin typeface="微软雅黑"/>
              </a:defRPr>
            </a:pPr>
            <a:r>
              <a:t>医疗帮扶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800600"/>
            <a:ext cx="1737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医疗投入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健康档案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43200" y="3931920"/>
            <a:ext cx="2103120" cy="228600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26080" y="40690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19A25"/>
                </a:solidFill>
                <a:latin typeface="微软雅黑"/>
              </a:defRPr>
            </a:pPr>
            <a:r>
              <a:t>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44348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19A25"/>
                </a:solidFill>
                <a:latin typeface="微软雅黑"/>
              </a:defRPr>
            </a:pPr>
            <a:r>
              <a:t>教育帮扶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26080" y="4800600"/>
            <a:ext cx="1737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教育投入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资助学生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0" y="3931920"/>
            <a:ext cx="2103120" cy="228600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12080" y="40690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19A25"/>
                </a:solidFill>
                <a:latin typeface="微软雅黑"/>
              </a:defRPr>
            </a:pPr>
            <a:r>
              <a:t>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12080" y="44348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19A25"/>
                </a:solidFill>
                <a:latin typeface="微软雅黑"/>
              </a:defRPr>
            </a:pPr>
            <a:r>
              <a:t>就业帮扶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12080" y="4800600"/>
            <a:ext cx="1737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就业培训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转移就业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0" y="3931920"/>
            <a:ext cx="2103120" cy="228600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98080" y="40690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19A25"/>
                </a:solidFill>
                <a:latin typeface="微软雅黑"/>
              </a:defRPr>
            </a:pPr>
            <a:r>
              <a:t>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80" y="44348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19A25"/>
                </a:solidFill>
                <a:latin typeface="微软雅黑"/>
              </a:defRPr>
            </a:pPr>
            <a:r>
              <a:t>消费帮扶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80" y="4800600"/>
            <a:ext cx="1737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采购金额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销售渠道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601200" y="3931920"/>
            <a:ext cx="2103120" cy="228600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784080" y="40690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19A25"/>
                </a:solidFill>
                <a:latin typeface="微软雅黑"/>
              </a:defRPr>
            </a:pPr>
            <a:r>
              <a:t>🎖️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84080" y="44348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19A25"/>
                </a:solidFill>
                <a:latin typeface="微软雅黑"/>
              </a:defRPr>
            </a:pPr>
            <a:r>
              <a:t>兵力投入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84080" y="4800600"/>
            <a:ext cx="1737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派驻人员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帮扶天数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19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19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微软雅黑"/>
              </a:defRPr>
            </a:pPr>
            <a:r>
              <a:t>核心功能 — 资金全生命周期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828800" cy="45720"/>
          </a:xfrm>
          <a:prstGeom prst="rect">
            <a:avLst/>
          </a:prstGeom>
          <a:solidFill>
            <a:srgbClr val="E19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645920" cy="731520"/>
          </a:xfrm>
          <a:prstGeom prst="round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/>
              </a:defRPr>
            </a:pPr>
            <a:r>
              <a:t>1. 预算编制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17373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E19A25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51760" y="1645920"/>
            <a:ext cx="1645920" cy="73152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173736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/>
              </a:defRPr>
            </a:pPr>
            <a:r>
              <a:t>2. 审批通过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17373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E19A25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645920"/>
            <a:ext cx="1645920" cy="731520"/>
          </a:xfrm>
          <a:prstGeom prst="round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73736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/>
              </a:defRPr>
            </a:pPr>
            <a:r>
              <a:t>3. 资金拨付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17373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E19A25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1645920"/>
            <a:ext cx="1645920" cy="73152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173736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/>
              </a:defRPr>
            </a:pPr>
            <a:r>
              <a:t>4. 使用跟踪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17373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E19A25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0" y="1645920"/>
            <a:ext cx="1645920" cy="731520"/>
          </a:xfrm>
          <a:prstGeom prst="round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173736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/>
              </a:defRPr>
            </a:pPr>
            <a:r>
              <a:t>5. 结算审核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12680" y="17373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E19A25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332720" y="1645920"/>
            <a:ext cx="1645920" cy="73152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424160" y="173736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/>
              </a:defRPr>
            </a:pPr>
            <a:r>
              <a:t>6. 绩效评估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2926080"/>
            <a:ext cx="5303520" cy="320040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4290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19A25"/>
                </a:solidFill>
                <a:latin typeface="微软雅黑"/>
              </a:defRPr>
            </a:pPr>
            <a:r>
              <a:t>预算管理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794760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• 年度预算编制与分类管理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• 预算执行率实时仪表盘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• 预算预警（超支/即将超支）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• 预算交易明细记录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• 各分类进度条可视化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2926080"/>
            <a:ext cx="5303520" cy="320040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34290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19A25"/>
                </a:solidFill>
                <a:latin typeface="微软雅黑"/>
              </a:defRPr>
            </a:pPr>
            <a:r>
              <a:t>多维分析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794760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• 按类型/年度/地区多维统计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• 年度资金趋势面积图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• 利用率趋势曲线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• 年度对比分析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• 资金流向追踪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19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19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微软雅黑"/>
              </a:defRPr>
            </a:pPr>
            <a:r>
              <a:t>核心功能 — 项目与审批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828800" cy="45720"/>
          </a:xfrm>
          <a:prstGeom prst="rect">
            <a:avLst/>
          </a:prstGeom>
          <a:solidFill>
            <a:srgbClr val="E19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5303520" cy="457200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745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19A25"/>
                </a:solidFill>
                <a:latin typeface="微软雅黑"/>
              </a:defRPr>
            </a:pPr>
            <a:r>
              <a:t>帮扶项目管理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4937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📋 项目立项与基本信息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📝 任务分解与进度跟踪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🎯 里程碑管理与完成确认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💰 经费关联与统计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📎 附件上传/下载/预览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📜 变更历史完整记录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📊 任务完成率进度条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📥 Excel批量导入导出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303520" cy="457200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745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19A25"/>
                </a:solidFill>
                <a:latin typeface="微软雅黑"/>
              </a:defRPr>
            </a:pPr>
            <a:r>
              <a:t>多级审批工作流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40280"/>
            <a:ext cx="4937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✅ 可配置多级审批流程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📤 提交审批（自动通知审批人）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👍 通过 / 👎 驳回 / 🔄 转办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↩️ 申请人可撤回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📦 批量审批（管理员）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📊 变更差异对比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⏰ 审批提醒与催办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📜 审批历史完整记录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19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19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微软雅黑"/>
              </a:defRPr>
            </a:pPr>
            <a:r>
              <a:t>核心功能 — 数据分析与AI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828800" cy="45720"/>
          </a:xfrm>
          <a:prstGeom prst="rect">
            <a:avLst/>
          </a:prstGeom>
          <a:solidFill>
            <a:srgbClr val="E19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3474720" cy="228600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745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19A25"/>
                </a:solidFill>
                <a:latin typeface="微软雅黑"/>
              </a:defRPr>
            </a:pPr>
            <a:r>
              <a:t>📊 数据看板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KPI统计卡片（自动刷新）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年度数据趋势图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村庄对比分析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绩效排名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371600"/>
            <a:ext cx="3474720" cy="228600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8745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19A25"/>
                </a:solidFill>
                <a:latin typeface="微软雅黑"/>
              </a:defRPr>
            </a:pPr>
            <a:r>
              <a:t>🗺️ 地图可视化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24028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帮扶村/学校地理标注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区域分布展示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离线地图瓦片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坐标编辑与距离计算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371600"/>
            <a:ext cx="3474720" cy="228600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8745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19A25"/>
                </a:solidFill>
                <a:latin typeface="微软雅黑"/>
              </a:defRPr>
            </a:pPr>
            <a:r>
              <a:t>🤖 AI辅助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24028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收入预测（时间序列）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异常数据检测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智能工作建议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自然语言查询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931920"/>
            <a:ext cx="10972800" cy="228600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43484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19A25"/>
                </a:solidFill>
                <a:latin typeface="微软雅黑"/>
              </a:defRPr>
            </a:pPr>
            <a:r>
              <a:t>📑 报表与导出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10607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综合报表生成（年度/季度）  •  Excel/PDF/WPS多格式导出  •  加密数据包（AES-256）多级单位安全交换  •  数据质量校验（完整性/一致性/准确性）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报表订阅（定期自动生成）  •  数据同步（增量/全量）  •  冲突解决机制  •  导入预览与校验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19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19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微软雅黑"/>
              </a:defRPr>
            </a:pPr>
            <a:r>
              <a:t>安全体系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828800" cy="45720"/>
          </a:xfrm>
          <a:prstGeom prst="rect">
            <a:avLst/>
          </a:prstGeom>
          <a:solidFill>
            <a:srgbClr val="E19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2651760" cy="292608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19A25"/>
                </a:solidFill>
                <a:latin typeface="微软雅黑"/>
              </a:defRPr>
            </a:pPr>
            <a:r>
              <a:t>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19A25"/>
                </a:solidFill>
                <a:latin typeface="微软雅黑"/>
              </a:defRPr>
            </a:pPr>
            <a:r>
              <a:t>认证安全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40280"/>
            <a:ext cx="2286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JWT双Token机制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TOTP双因素认证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机器码绑定验证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账户锁定+速率限制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371600"/>
            <a:ext cx="2651760" cy="292608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508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19A25"/>
                </a:solidFill>
                <a:latin typeface="微软雅黑"/>
              </a:defRPr>
            </a:pPr>
            <a:r>
              <a:t>🛡️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1874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19A25"/>
                </a:solidFill>
                <a:latin typeface="微软雅黑"/>
              </a:defRPr>
            </a:pPr>
            <a:r>
              <a:t>权限控制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240280"/>
            <a:ext cx="2286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RBAC角色权限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组织树数据隔离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菜单级前端权限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工作台按角色过滤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371600"/>
            <a:ext cx="2651760" cy="292608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508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19A25"/>
                </a:solidFill>
                <a:latin typeface="微软雅黑"/>
              </a:defRPr>
            </a:pPr>
            <a:r>
              <a:t>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874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19A25"/>
                </a:solidFill>
                <a:latin typeface="微软雅黑"/>
              </a:defRPr>
            </a:pPr>
            <a:r>
              <a:t>数据安全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240280"/>
            <a:ext cx="2286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AES-256-GCM加密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CSRF双重提交Cookie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安全响应头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审计日志全链路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1371600"/>
            <a:ext cx="2651760" cy="292608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81160" y="1508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19A25"/>
                </a:solidFill>
                <a:latin typeface="微软雅黑"/>
              </a:defRPr>
            </a:pPr>
            <a:r>
              <a:t>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1874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19A25"/>
                </a:solidFill>
                <a:latin typeface="微软雅黑"/>
              </a:defRPr>
            </a:pPr>
            <a:r>
              <a:t>离线部署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2240280"/>
            <a:ext cx="2286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数据不出本机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加密数据包交换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NSIS安装包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VC++运行时内置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572000"/>
            <a:ext cx="11247120" cy="164592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07492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19A25"/>
                </a:solidFill>
                <a:latin typeface="微软雅黑"/>
              </a:defRPr>
            </a:pPr>
            <a:r>
              <a:t>零信任安全架构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44068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设备指纹识别 → 动态权限评估 → 最小权限原则 → 持续验证 → 安全事件审计  |  评估维度：设备可信度 + 用户行为 + 网络环境 + 数据敏感度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19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19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微软雅黑"/>
              </a:defRPr>
            </a:pPr>
            <a:r>
              <a:t>部署与运维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828800" cy="45720"/>
          </a:xfrm>
          <a:prstGeom prst="rect">
            <a:avLst/>
          </a:prstGeom>
          <a:solidFill>
            <a:srgbClr val="E19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2011680" cy="731520"/>
          </a:xfrm>
          <a:prstGeom prst="round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1. 下载安装包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14630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19A25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1371600"/>
            <a:ext cx="2011680" cy="731520"/>
          </a:xfrm>
          <a:prstGeom prst="round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0" y="14630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2. 运行安装程序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14630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19A25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1371600"/>
            <a:ext cx="2011680" cy="731520"/>
          </a:xfrm>
          <a:prstGeom prst="round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0" y="14630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3. 自动安装VC++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14630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19A25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1371600"/>
            <a:ext cx="2011680" cy="731520"/>
          </a:xfrm>
          <a:prstGeom prst="round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0" y="14630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4. 创建桌面快捷方式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14630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19A25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92640" y="1371600"/>
            <a:ext cx="2011680" cy="731520"/>
          </a:xfrm>
          <a:prstGeom prst="round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0" y="14630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5. 启动系统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2560320"/>
            <a:ext cx="5303520" cy="347472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0632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19A25"/>
                </a:solidFill>
                <a:latin typeface="微软雅黑"/>
              </a:defRPr>
            </a:pPr>
            <a:r>
              <a:t>运维功能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429000"/>
            <a:ext cx="49377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🔄 自动备份（每日/每周/每月）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🏥 一键系统体检（6维度健康检查）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📊 系统监控仪表板（CPU/内存/磁盘）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📋 审计日志管理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🔧 缓存管理与清理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📝 更新日志与版本管理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🌐 运行环境检查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2560320"/>
            <a:ext cx="5303520" cy="347472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0632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19A25"/>
                </a:solidFill>
                <a:latin typeface="微软雅黑"/>
              </a:defRPr>
            </a:pPr>
            <a:r>
              <a:t>系统管理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429000"/>
            <a:ext cx="49377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👤 用户管理（创建/禁用/重置密码）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🔐 权限配置（角色/菜单/数据范围）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⚙️ 系统配置（配置包导入导出）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🔑 密钥管理（轮换/撤销）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📧 邮件服务配置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🗺️ 地图瓦片管理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  <a:latin typeface="微软雅黑"/>
              </a:defRPr>
            </a:pPr>
            <a:r>
              <a:t>🔒 加密设置（数据库加密）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19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19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微软雅黑"/>
              </a:defRPr>
            </a:pPr>
            <a:r>
              <a:t>项目质量保障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828800" cy="45720"/>
          </a:xfrm>
          <a:prstGeom prst="rect">
            <a:avLst/>
          </a:prstGeom>
          <a:solidFill>
            <a:srgbClr val="E19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383280" cy="210312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E19A25"/>
                </a:solidFill>
                <a:latin typeface="微软雅黑"/>
              </a:defRPr>
            </a:pPr>
            <a:r>
              <a:t>699+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860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API 端点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432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DB5BD"/>
                </a:solidFill>
                <a:latin typeface="微软雅黑"/>
              </a:defRPr>
            </a:pPr>
            <a:r>
              <a:t>42个路由模块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1371600"/>
            <a:ext cx="3383280" cy="210312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79" y="155448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E19A25"/>
                </a:solidFill>
                <a:latin typeface="微软雅黑"/>
              </a:defRPr>
            </a:pPr>
            <a:r>
              <a:t>10,056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22860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后端测试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27432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DB5BD"/>
                </a:solidFill>
                <a:latin typeface="微软雅黑"/>
              </a:defRPr>
            </a:pPr>
            <a:r>
              <a:t>pytest全量通过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371600"/>
            <a:ext cx="3383280" cy="210312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155448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E19A25"/>
                </a:solidFill>
                <a:latin typeface="微软雅黑"/>
              </a:defRPr>
            </a:pPr>
            <a:r>
              <a:t>1,622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2860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前端测试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7432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DB5BD"/>
                </a:solidFill>
                <a:latin typeface="微软雅黑"/>
              </a:defRPr>
            </a:pPr>
            <a:r>
              <a:t>vitest 125文件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840480"/>
            <a:ext cx="3383280" cy="210312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02336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E19A25"/>
                </a:solidFill>
                <a:latin typeface="微软雅黑"/>
              </a:defRPr>
            </a:pPr>
            <a: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7548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类型错误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2120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DB5BD"/>
                </a:solidFill>
                <a:latin typeface="微软雅黑"/>
              </a:defRPr>
            </a:pPr>
            <a:r>
              <a:t>vue-tsc严格模式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59" y="3840480"/>
            <a:ext cx="3383280" cy="210312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79" y="402336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E19A25"/>
                </a:solidFill>
                <a:latin typeface="微软雅黑"/>
              </a:defRPr>
            </a:pPr>
            <a: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79" y="47548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CI 工作流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79" y="52120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DB5BD"/>
                </a:solidFill>
                <a:latin typeface="微软雅黑"/>
              </a:defRPr>
            </a:pPr>
            <a:r>
              <a:t>自动化构建测试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3840480"/>
            <a:ext cx="3383280" cy="210312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0" y="402336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E19A25"/>
                </a:solidFill>
                <a:latin typeface="微软雅黑"/>
              </a:defRPr>
            </a:pPr>
            <a:r>
              <a:t>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47548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帮助文档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52120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DB5BD"/>
                </a:solidFill>
                <a:latin typeface="微软雅黑"/>
              </a:defRPr>
            </a:pPr>
            <a:r>
              <a:t>覆盖全部模块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19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E19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微软雅黑"/>
              </a:defRPr>
            </a:pPr>
            <a:r>
              <a:t>总结与展望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828800"/>
            <a:ext cx="8503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FFFFFF"/>
                </a:solidFill>
                <a:latin typeface="微软雅黑"/>
              </a:defRPr>
            </a:pPr>
            <a:r>
              <a:t>🔐  完全离线运行，满足涉密环境要求，数据不出本机</a:t>
            </a:r>
          </a:p>
          <a:p>
            <a:pPr>
              <a:spcAft>
                <a:spcPts val="1400"/>
              </a:spcAft>
              <a:defRPr sz="1900">
                <a:solidFill>
                  <a:srgbClr val="FFFFFF"/>
                </a:solidFill>
                <a:latin typeface="微软雅黑"/>
              </a:defRPr>
            </a:pPr>
            <a:r>
              <a:t>📊  10大板块年度数据全覆盖，资金全生命周期管理</a:t>
            </a:r>
          </a:p>
          <a:p>
            <a:pPr>
              <a:spcAft>
                <a:spcPts val="1400"/>
              </a:spcAft>
              <a:defRPr sz="1900">
                <a:solidFill>
                  <a:srgbClr val="FFFFFF"/>
                </a:solidFill>
                <a:latin typeface="微软雅黑"/>
              </a:defRPr>
            </a:pPr>
            <a:r>
              <a:t>🤖  AI辅助分析预测，智能异常检测与工作建议</a:t>
            </a:r>
          </a:p>
          <a:p>
            <a:pPr>
              <a:spcAft>
                <a:spcPts val="1400"/>
              </a:spcAft>
              <a:defRPr sz="1900">
                <a:solidFill>
                  <a:srgbClr val="FFFFFF"/>
                </a:solidFill>
                <a:latin typeface="微软雅黑"/>
              </a:defRPr>
            </a:pPr>
            <a:r>
              <a:t>🗺️  地图可视化展示，帮扶村与学校地理分布一目了然</a:t>
            </a:r>
          </a:p>
          <a:p>
            <a:pPr>
              <a:spcAft>
                <a:spcPts val="1400"/>
              </a:spcAft>
              <a:defRPr sz="1900">
                <a:solidFill>
                  <a:srgbClr val="FFFFFF"/>
                </a:solidFill>
                <a:latin typeface="微软雅黑"/>
              </a:defRPr>
            </a:pPr>
            <a:r>
              <a:t>⚡  一键数据加密交换，支持多级单位间安全数据传输</a:t>
            </a:r>
          </a:p>
          <a:p>
            <a:pPr>
              <a:spcAft>
                <a:spcPts val="1400"/>
              </a:spcAft>
              <a:defRPr sz="1900">
                <a:solidFill>
                  <a:srgbClr val="FFFFFF"/>
                </a:solidFill>
                <a:latin typeface="微软雅黑"/>
              </a:defRPr>
            </a:pPr>
            <a:r>
              <a:t>🛡️  零信任安全架构，RBAC权限 + 2FA + 审计全链路</a:t>
            </a:r>
          </a:p>
          <a:p>
            <a:pPr>
              <a:spcAft>
                <a:spcPts val="1400"/>
              </a:spcAft>
              <a:defRPr sz="1900">
                <a:solidFill>
                  <a:srgbClr val="FFFFFF"/>
                </a:solidFill>
                <a:latin typeface="微软雅黑"/>
              </a:defRPr>
            </a:pPr>
            <a:r>
              <a:t>📦  Electron桌面应用，NSIS安装包一键部署</a:t>
            </a:r>
          </a:p>
          <a:p>
            <a:pPr>
              <a:spcAft>
                <a:spcPts val="1400"/>
              </a:spcAft>
              <a:defRPr sz="1900">
                <a:solidFill>
                  <a:srgbClr val="FFFFFF"/>
                </a:solidFill>
                <a:latin typeface="微软雅黑"/>
              </a:defRPr>
            </a:pPr>
            <a:r>
              <a:t>📖  15篇帮助文档，小白也能快速上手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760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19A25"/>
                </a:solidFill>
                <a:latin typeface="微软雅黑"/>
              </a:defRPr>
            </a:pPr>
            <a:r>
              <a:t>帮扶村振兴管理系统  ·  让帮扶工作更精准、更高效、更安全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