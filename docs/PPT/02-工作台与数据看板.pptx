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2926080"/>
            <a:ext cx="1828800" cy="4572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400" b="1">
                <a:solidFill>
                  <a:srgbClr val="FFFFFF"/>
                </a:solidFill>
                <a:latin typeface="Microsoft YaHei"/>
              </a:defRPr>
            </a:pPr>
            <a:r>
              <a:t>工作台与数据看板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004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D4AF37"/>
                </a:solidFill>
                <a:latin typeface="Microsoft YaHei"/>
              </a:defRPr>
            </a:pPr>
            <a:r>
              <a:t>一屏掌控全局 · 数据一目了然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943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1600">
                <a:solidFill>
                  <a:srgbClr val="FFFFFF"/>
                </a:solidFill>
                <a:latin typeface="Microsoft YaHei"/>
              </a:defRPr>
            </a:pPr>
            <a:r>
              <a:t>军队乡村振兴管理系统 v1.2.0 · 操作培训资料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59436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1600">
                <a:solidFill>
                  <a:srgbClr val="D4AF37"/>
                </a:solidFill>
                <a:latin typeface="Microsoft YaHei"/>
              </a:defRPr>
            </a:pPr>
            <a:r>
              <a:t>2026.04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0" cy="685800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0" y="228600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D4AF37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36576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B4332"/>
                </a:solidFill>
                <a:latin typeface="Microsoft YaHei"/>
              </a:defRPr>
            </a:pPr>
            <a:r>
              <a:t>工作台与数据看板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工作台是什么？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1371600" cy="4572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6858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200"/>
              </a:spcAft>
              <a:defRPr sz="2200">
                <a:solidFill>
                  <a:srgbClr val="1A1A1A"/>
                </a:solidFill>
                <a:latin typeface="Microsoft YaHei"/>
              </a:defRPr>
            </a:pPr>
            <a:r>
              <a:t>●  登录后看到的第一个页面，系统的'驾驶舱'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2200">
                <a:solidFill>
                  <a:srgbClr val="1A1A1A"/>
                </a:solidFill>
                <a:latin typeface="Microsoft YaHei"/>
              </a:defRPr>
            </a:pPr>
            <a:r>
              <a:t>●  顶部显示关键指标：帮扶村数量、项目总数、资金总额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2200">
                <a:solidFill>
                  <a:srgbClr val="1A1A1A"/>
                </a:solidFill>
                <a:latin typeface="Microsoft YaHei"/>
              </a:defRPr>
            </a:pPr>
            <a:r>
              <a:t>●  中部展示待办事项：待审批、待完成任务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2200">
                <a:solidFill>
                  <a:srgbClr val="1A1A1A"/>
                </a:solidFill>
                <a:latin typeface="Microsoft YaHei"/>
              </a:defRPr>
            </a:pPr>
            <a:r>
              <a:t>●  底部呈现最新动态：系统通知、工作提醒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589520" y="1371600"/>
            <a:ext cx="4114800" cy="50292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0" y="1554480"/>
            <a:ext cx="374903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B4332"/>
                </a:solidFill>
                <a:latin typeface="Microsoft YaHei"/>
              </a:defRPr>
            </a:pPr>
            <a:r>
              <a:t>💡 生活化理解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2194560"/>
            <a:ext cx="3749039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1800">
                <a:solidFill>
                  <a:srgbClr val="666666"/>
                </a:solidFill>
                <a:latin typeface="Microsoft YaHei"/>
              </a:defRPr>
            </a:pPr>
            <a:r>
              <a:t>就像汽车的仪表盘，不用打开引擎盖，一眼就能看到车速、油量、水温。工作台也是这样，让您不用翻找各个菜单，就能知道当前工作的整体状况。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数据看板三大亮点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1371600" cy="4572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6858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200"/>
              </a:spcAft>
              <a:defRPr sz="2200">
                <a:solidFill>
                  <a:srgbClr val="1A1A1A"/>
                </a:solidFill>
                <a:latin typeface="Microsoft YaHei"/>
              </a:defRPr>
            </a:pPr>
            <a:r>
              <a:t>●  多维统计：按年份、地区、项目类型自动汇总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2200">
                <a:solidFill>
                  <a:srgbClr val="1A1A1A"/>
                </a:solidFill>
                <a:latin typeface="Microsoft YaHei"/>
              </a:defRPr>
            </a:pPr>
            <a:r>
              <a:t>●  实时图表：柱状图、饼图、折线图动态展示趋势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2200">
                <a:solidFill>
                  <a:srgbClr val="1A1A1A"/>
                </a:solidFill>
                <a:latin typeface="Microsoft YaHei"/>
              </a:defRPr>
            </a:pPr>
            <a:r>
              <a:t>●  地图可视化：帮扶点位在地图上直观分布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2200">
                <a:solidFill>
                  <a:srgbClr val="1A1A1A"/>
                </a:solidFill>
                <a:latin typeface="Microsoft YaHei"/>
              </a:defRPr>
            </a:pPr>
            <a:r>
              <a:t>●  一键导出：报表可导出为 Excel、Word、PDF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589520" y="1371600"/>
            <a:ext cx="4114800" cy="50292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0" y="1554480"/>
            <a:ext cx="374903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B4332"/>
                </a:solidFill>
                <a:latin typeface="Microsoft YaHei"/>
              </a:defRPr>
            </a:pPr>
            <a:r>
              <a:t>💡 生活化理解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2194560"/>
            <a:ext cx="3749039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1800">
                <a:solidFill>
                  <a:srgbClr val="666666"/>
                </a:solidFill>
                <a:latin typeface="Microsoft YaHei"/>
              </a:defRPr>
            </a:pPr>
            <a:r>
              <a:t>以前领导问'今年帮扶了多少村、花了多少钱'，您可能要翻半天表格。现在点开看板，就像看电视新闻里的数据图，数字和图表一起呈现，3秒钟就能讲清楚。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看板主要图表类型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1371600" cy="4572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4332"/>
                </a:solidFill>
                <a:latin typeface="Microsoft YaHei"/>
              </a:defRPr>
            </a:pPr>
            <a:r>
              <a:t>左侧：分类统计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200"/>
              </a:spcAft>
              <a:defRPr sz="2000">
                <a:solidFill>
                  <a:srgbClr val="1A1A1A"/>
                </a:solidFill>
                <a:latin typeface="Microsoft YaHei"/>
              </a:defRPr>
            </a:pPr>
            <a:r>
              <a:t>●  饼图：资金类型占比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2000">
                <a:solidFill>
                  <a:srgbClr val="1A1A1A"/>
                </a:solidFill>
                <a:latin typeface="Microsoft YaHei"/>
              </a:defRPr>
            </a:pPr>
            <a:r>
              <a:t>●  柱状图：各村资金投入对比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2000">
                <a:solidFill>
                  <a:srgbClr val="1A1A1A"/>
                </a:solidFill>
                <a:latin typeface="Microsoft YaHei"/>
              </a:defRPr>
            </a:pPr>
            <a:r>
              <a:t>●  环形图：项目完成率分布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4332"/>
                </a:solidFill>
                <a:latin typeface="Microsoft YaHei"/>
              </a:defRPr>
            </a:pPr>
            <a:r>
              <a:t>右侧：趋势分析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8288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200"/>
              </a:spcAft>
              <a:defRPr sz="2000">
                <a:solidFill>
                  <a:srgbClr val="1A1A1A"/>
                </a:solidFill>
                <a:latin typeface="Microsoft YaHei"/>
              </a:defRPr>
            </a:pPr>
            <a:r>
              <a:t>●  折线图：年度资金投入趋势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2000">
                <a:solidFill>
                  <a:srgbClr val="1A1A1A"/>
                </a:solidFill>
                <a:latin typeface="Microsoft YaHei"/>
              </a:defRPr>
            </a:pPr>
            <a:r>
              <a:t>●  面积图：项目进度累计走势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2000">
                <a:solidFill>
                  <a:srgbClr val="1A1A1A"/>
                </a:solidFill>
                <a:latin typeface="Microsoft YaHei"/>
              </a:defRPr>
            </a:pPr>
            <a:r>
              <a:t>●  组合图：多指标关联展示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如何使用看板？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1371600" cy="4572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6858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200"/>
              </a:spcAft>
              <a:defRPr sz="2200">
                <a:solidFill>
                  <a:srgbClr val="1A1A1A"/>
                </a:solidFill>
                <a:latin typeface="Microsoft YaHei"/>
              </a:defRPr>
            </a:pPr>
            <a:r>
              <a:t>●  Step 1：点击左侧菜单'数据看板'进入统计页面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2200">
                <a:solidFill>
                  <a:srgbClr val="1A1A1A"/>
                </a:solidFill>
                <a:latin typeface="Microsoft YaHei"/>
              </a:defRPr>
            </a:pPr>
            <a:r>
              <a:t>●  Step 2：通过顶部筛选器选择年份、地区、项目类型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2200">
                <a:solidFill>
                  <a:srgbClr val="1A1A1A"/>
                </a:solidFill>
                <a:latin typeface="Microsoft YaHei"/>
              </a:defRPr>
            </a:pPr>
            <a:r>
              <a:t>●  Step 3：鼠标悬停在图表上，查看精确数值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2200">
                <a:solidFill>
                  <a:srgbClr val="1A1A1A"/>
                </a:solidFill>
                <a:latin typeface="Microsoft YaHei"/>
              </a:defRPr>
            </a:pPr>
            <a:r>
              <a:t>●  Step 4：点击右上角'导出'按钮，生成汇报材料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589520" y="1371600"/>
            <a:ext cx="4114800" cy="50292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0" y="1554480"/>
            <a:ext cx="374903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B4332"/>
                </a:solidFill>
                <a:latin typeface="Microsoft YaHei"/>
              </a:defRPr>
            </a:pPr>
            <a:r>
              <a:t>💡 生活化理解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2194560"/>
            <a:ext cx="3749039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1800">
                <a:solidFill>
                  <a:srgbClr val="666666"/>
                </a:solidFill>
                <a:latin typeface="Microsoft YaHei"/>
              </a:defRPr>
            </a:pPr>
            <a:r>
              <a:t>操作看板就和使用手机天气APP一样简单：下拉刷新数据、滑动切换图表、点击看详情。不需要任何专业知识，会用鼠标就能上手。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核心收益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103120"/>
            <a:ext cx="85340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0"/>
              </a:spcAft>
              <a:defRPr sz="2600">
                <a:solidFill>
                  <a:srgbClr val="FFFFFF"/>
                </a:solidFill>
                <a:latin typeface="Microsoft YaHei"/>
              </a:defRPr>
            </a:pPr>
            <a:r>
              <a:t>✓ 决策更快：数据实时呈现，不用等报表</a:t>
            </a:r>
          </a:p>
          <a:p>
            <a:pPr algn="ctr">
              <a:spcAft>
                <a:spcPts val="2000"/>
              </a:spcAft>
              <a:defRPr sz="2600">
                <a:solidFill>
                  <a:srgbClr val="FFFFFF"/>
                </a:solidFill>
                <a:latin typeface="Microsoft YaHei"/>
              </a:defRPr>
            </a:pPr>
            <a:r>
              <a:t>✓ 汇报更简：一键导出PPT/Excel素材</a:t>
            </a:r>
          </a:p>
          <a:p>
            <a:pPr algn="ctr">
              <a:spcAft>
                <a:spcPts val="2000"/>
              </a:spcAft>
              <a:defRPr sz="2600">
                <a:solidFill>
                  <a:srgbClr val="FFFFFF"/>
                </a:solidFill>
                <a:latin typeface="Microsoft YaHei"/>
              </a:defRPr>
            </a:pPr>
            <a:r>
              <a:t>✓ 管理更细：从村到校到项目层层穿透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