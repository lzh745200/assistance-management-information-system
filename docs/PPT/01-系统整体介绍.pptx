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4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27432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14400" y="2926080"/>
            <a:ext cx="1828800" cy="4572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01168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5400" b="1">
                <a:solidFill>
                  <a:srgbClr val="FFFFFF"/>
                </a:solidFill>
                <a:latin typeface="Microsoft YaHei"/>
              </a:defRPr>
            </a:pPr>
            <a:r>
              <a:t>军队乡村振兴管理系统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2004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>
                <a:solidFill>
                  <a:srgbClr val="D4AF37"/>
                </a:solidFill>
                <a:latin typeface="Microsoft YaHei"/>
              </a:defRPr>
            </a:pPr>
            <a:r>
              <a:t>全面数字化 · 智能管理 · 一键直达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9436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  <a:defRPr sz="1600">
                <a:solidFill>
                  <a:srgbClr val="FFFFFF"/>
                </a:solidFill>
                <a:latin typeface="Microsoft YaHei"/>
              </a:defRPr>
            </a:pPr>
            <a:r>
              <a:t>军队乡村振兴管理系统 v1.2.0 · 操作培训资料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594360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  <a:defRPr sz="1600">
                <a:solidFill>
                  <a:srgbClr val="D4AF37"/>
                </a:solidFill>
                <a:latin typeface="Microsoft YaHei"/>
              </a:defRPr>
            </a:pPr>
            <a:r>
              <a:t>2026.04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0" cy="6858000"/>
          </a:xfrm>
          <a:prstGeom prst="rect">
            <a:avLst/>
          </a:prstGeom>
          <a:solidFill>
            <a:srgbClr val="1B4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645920" y="2286000"/>
            <a:ext cx="1828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200" b="1">
                <a:solidFill>
                  <a:srgbClr val="D4AF37"/>
                </a:solidFill>
                <a:latin typeface="Microsoft YaHei"/>
              </a:defRPr>
            </a:pPr>
            <a: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45920" y="365760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1B4332"/>
                </a:solidFill>
                <a:latin typeface="Microsoft YaHei"/>
              </a:defRPr>
            </a:pPr>
            <a:r>
              <a:t>军队乡村振兴管理系统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4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Microsoft YaHei"/>
              </a:defRPr>
            </a:pPr>
            <a:r>
              <a:t>什么是这个系统？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960120"/>
            <a:ext cx="1371600" cy="4572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68580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Aft>
                <a:spcPts val="1200"/>
              </a:spcAft>
              <a:defRPr sz="2200">
                <a:solidFill>
                  <a:srgbClr val="1A1A1A"/>
                </a:solidFill>
                <a:latin typeface="Microsoft YaHei"/>
              </a:defRPr>
            </a:pPr>
            <a:r>
              <a:t>●  专为军队参与乡村振兴工作设计的信息化管理平台（v1.2.0）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2200">
                <a:solidFill>
                  <a:srgbClr val="1A1A1A"/>
                </a:solidFill>
                <a:latin typeface="Microsoft YaHei"/>
              </a:defRPr>
            </a:pPr>
            <a:r>
              <a:t>●  覆盖帮扶村、学校、项目、资金等全流程管理，含 657 个 API 接口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2200">
                <a:solidFill>
                  <a:srgbClr val="1A1A1A"/>
                </a:solidFill>
                <a:latin typeface="Microsoft YaHei"/>
              </a:defRPr>
            </a:pPr>
            <a:r>
              <a:t>●  支持 Windows 和国产麒麟系统（含 ARM64），87 个功能页面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2200">
                <a:solidFill>
                  <a:srgbClr val="1A1A1A"/>
                </a:solidFill>
                <a:latin typeface="Microsoft YaHei"/>
              </a:defRPr>
            </a:pPr>
            <a:r>
              <a:t>●  完全离线运行，数据本地存储，安全可靠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2200">
                <a:solidFill>
                  <a:srgbClr val="1A1A1A"/>
                </a:solidFill>
                <a:latin typeface="Microsoft YaHei"/>
              </a:defRPr>
            </a:pPr>
            <a:r>
              <a:t>●  内置审批工作流、RBAC 权限控制、数据级权限管理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589520" y="1371600"/>
            <a:ext cx="4114800" cy="5029200"/>
          </a:xfrm>
          <a:prstGeom prst="roundRect">
            <a:avLst/>
          </a:prstGeom>
          <a:solidFill>
            <a:srgbClr val="FFFFFF"/>
          </a:solidFill>
          <a:ln w="3810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0" y="1554480"/>
            <a:ext cx="3749039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1B4332"/>
                </a:solidFill>
                <a:latin typeface="Microsoft YaHei"/>
              </a:defRPr>
            </a:pPr>
            <a:r>
              <a:t>💡 生活化理解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0" y="2194560"/>
            <a:ext cx="3749039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40000"/>
              </a:lnSpc>
              <a:defRPr sz="1800">
                <a:solidFill>
                  <a:srgbClr val="666666"/>
                </a:solidFill>
                <a:latin typeface="Microsoft YaHei"/>
              </a:defRPr>
            </a:pPr>
            <a:r>
              <a:t>就像您手机里的'记账本+相册+日程表'的合体，但它专门用来管理军队帮扶乡村的所有工作。不需要联网，打开就能用，所有数据都存在自己的电脑里。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4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Microsoft YaHei"/>
              </a:defRPr>
            </a:pPr>
            <a:r>
              <a:t>系统能解决什么问题？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960120"/>
            <a:ext cx="1371600" cy="4572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68580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Aft>
                <a:spcPts val="1200"/>
              </a:spcAft>
              <a:defRPr sz="2200">
                <a:solidFill>
                  <a:srgbClr val="1A1A1A"/>
                </a:solidFill>
                <a:latin typeface="Microsoft YaHei"/>
              </a:defRPr>
            </a:pPr>
            <a:r>
              <a:t>●  告别纸质台账，所有数据电子化、可检索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2200">
                <a:solidFill>
                  <a:srgbClr val="1A1A1A"/>
                </a:solidFill>
                <a:latin typeface="Microsoft YaHei"/>
              </a:defRPr>
            </a:pPr>
            <a:r>
              <a:t>●  资金流向清晰透明，每一笔支出有据可查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2200">
                <a:solidFill>
                  <a:srgbClr val="1A1A1A"/>
                </a:solidFill>
                <a:latin typeface="Microsoft YaHei"/>
              </a:defRPr>
            </a:pPr>
            <a:r>
              <a:t>●  项目进度实时跟踪，谁负责、到什么阶段一目了然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2200">
                <a:solidFill>
                  <a:srgbClr val="1A1A1A"/>
                </a:solidFill>
                <a:latin typeface="Microsoft YaHei"/>
              </a:defRPr>
            </a:pPr>
            <a:r>
              <a:t>●  审批流程线上化，不用拿着文件到处找人签字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2200">
                <a:solidFill>
                  <a:srgbClr val="1A1A1A"/>
                </a:solidFill>
                <a:latin typeface="Microsoft YaHei"/>
              </a:defRPr>
            </a:pPr>
            <a:r>
              <a:t>●  地图可视化展示，帮扶点位分布一图掌握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589520" y="1371600"/>
            <a:ext cx="4114800" cy="5029200"/>
          </a:xfrm>
          <a:prstGeom prst="roundRect">
            <a:avLst/>
          </a:prstGeom>
          <a:solidFill>
            <a:srgbClr val="FFFFFF"/>
          </a:solidFill>
          <a:ln w="3810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0" y="1554480"/>
            <a:ext cx="3749039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1B4332"/>
                </a:solidFill>
                <a:latin typeface="Microsoft YaHei"/>
              </a:defRPr>
            </a:pPr>
            <a:r>
              <a:t>💡 生活化理解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0" y="2194560"/>
            <a:ext cx="3749039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40000"/>
              </a:lnSpc>
              <a:defRPr sz="1800">
                <a:solidFill>
                  <a:srgbClr val="666666"/>
                </a:solidFill>
                <a:latin typeface="Microsoft YaHei"/>
              </a:defRPr>
            </a:pPr>
            <a:r>
              <a:t>以前管理乡镇工作像用一个本子记账，现在相当于有了一个智能管家：它会自动分类、自动提醒、自动汇总报表，而且永远不会把账本弄丢。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4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Microsoft YaHei"/>
              </a:defRPr>
            </a:pPr>
            <a:r>
              <a:t>系统核心技术栈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960120"/>
            <a:ext cx="1371600" cy="4572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80160"/>
            <a:ext cx="5486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B4332"/>
                </a:solidFill>
                <a:latin typeface="Microsoft YaHei"/>
              </a:defRPr>
            </a:pPr>
            <a:r>
              <a:t>后端（大脑）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82880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Aft>
                <a:spcPts val="1200"/>
              </a:spcAft>
              <a:defRPr sz="2000">
                <a:solidFill>
                  <a:srgbClr val="1A1A1A"/>
                </a:solidFill>
                <a:latin typeface="Microsoft YaHei"/>
              </a:defRPr>
            </a:pPr>
            <a:r>
              <a:t>●  Python 3.11 + FastAPI 0.109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2000">
                <a:solidFill>
                  <a:srgbClr val="1A1A1A"/>
                </a:solidFill>
                <a:latin typeface="Microsoft YaHei"/>
              </a:defRPr>
            </a:pPr>
            <a:r>
              <a:t>●  SQLAlchemy 2.0 + SQLite（55 模型）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2000">
                <a:solidFill>
                  <a:srgbClr val="1A1A1A"/>
                </a:solidFill>
                <a:latin typeface="Microsoft YaHei"/>
              </a:defRPr>
            </a:pPr>
            <a:r>
              <a:t>●  657 API 端点 + JWT 安全认证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2000">
                <a:solidFill>
                  <a:srgbClr val="1A1A1A"/>
                </a:solidFill>
                <a:latin typeface="Microsoft YaHei"/>
              </a:defRPr>
            </a:pPr>
            <a:r>
              <a:t>●  DDD 分层架构，完全离线运行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280160"/>
            <a:ext cx="5486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B4332"/>
                </a:solidFill>
                <a:latin typeface="Microsoft YaHei"/>
              </a:defRPr>
            </a:pPr>
            <a:r>
              <a:t>前端（脸面）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182880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Aft>
                <a:spcPts val="1200"/>
              </a:spcAft>
              <a:defRPr sz="2000">
                <a:solidFill>
                  <a:srgbClr val="1A1A1A"/>
                </a:solidFill>
                <a:latin typeface="Microsoft YaHei"/>
              </a:defRPr>
            </a:pPr>
            <a:r>
              <a:t>●  Vue 3.4 + TypeScript 5.9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2000">
                <a:solidFill>
                  <a:srgbClr val="1A1A1A"/>
                </a:solidFill>
                <a:latin typeface="Microsoft YaHei"/>
              </a:defRPr>
            </a:pPr>
            <a:r>
              <a:t>●  Element Plus 2.13（87 组件）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2000">
                <a:solidFill>
                  <a:srgbClr val="1A1A1A"/>
                </a:solidFill>
                <a:latin typeface="Microsoft YaHei"/>
              </a:defRPr>
            </a:pPr>
            <a:r>
              <a:t>●  Vite 7.3 + Pinia 状态管理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2000">
                <a:solidFill>
                  <a:srgbClr val="1A1A1A"/>
                </a:solidFill>
                <a:latin typeface="Microsoft YaHei"/>
              </a:defRPr>
            </a:pPr>
            <a:r>
              <a:t>●  ECharts 可视化 + Leaflet 地图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4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Microsoft YaHei"/>
              </a:defRPr>
            </a:pPr>
            <a:r>
              <a:t>系统核心功能模块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960120"/>
            <a:ext cx="1371600" cy="4572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68580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Aft>
                <a:spcPts val="1200"/>
              </a:spcAft>
              <a:defRPr sz="2200">
                <a:solidFill>
                  <a:srgbClr val="1A1A1A"/>
                </a:solidFill>
                <a:latin typeface="Microsoft YaHei"/>
              </a:defRPr>
            </a:pPr>
            <a:r>
              <a:t>●  帮扶村管理：建档立卡、年度数据（15 大类）、变更历史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2200">
                <a:solidFill>
                  <a:srgbClr val="1A1A1A"/>
                </a:solidFill>
                <a:latin typeface="Microsoft YaHei"/>
              </a:defRPr>
            </a:pPr>
            <a:r>
              <a:t>●  帮扶学校管理：学校信息、助学项目、资助学生管理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2200">
                <a:solidFill>
                  <a:srgbClr val="1A1A1A"/>
                </a:solidFill>
                <a:latin typeface="Microsoft YaHei"/>
              </a:defRPr>
            </a:pPr>
            <a:r>
              <a:t>●  帮扶项目管理：项目立项、里程碑跟踪、进度管理、验收评估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2200">
                <a:solidFill>
                  <a:srgbClr val="1A1A1A"/>
                </a:solidFill>
                <a:latin typeface="Microsoft YaHei"/>
              </a:defRPr>
            </a:pPr>
            <a:r>
              <a:t>●  经费管理：全生命周期（申请→审批→拨付→使用→审计→决算）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2200">
                <a:solidFill>
                  <a:srgbClr val="1A1A1A"/>
                </a:solidFill>
                <a:latin typeface="Microsoft YaHei"/>
              </a:defRPr>
            </a:pPr>
            <a:r>
              <a:t>●  审批工作流：多级审批、流程追踪、操作日志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2200">
                <a:solidFill>
                  <a:srgbClr val="1A1A1A"/>
                </a:solidFill>
                <a:latin typeface="Microsoft YaHei"/>
              </a:defRPr>
            </a:pPr>
            <a:r>
              <a:t>●  数据管理：数据备份、质量监控、同步、加密数据包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2200">
                <a:solidFill>
                  <a:srgbClr val="1A1A1A"/>
                </a:solidFill>
                <a:latin typeface="Microsoft YaHei"/>
              </a:defRPr>
            </a:pPr>
            <a:r>
              <a:t>●  系统管理：RBAC 权限、审计日志、系统监控、地图瓦片管理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589520" y="1371600"/>
            <a:ext cx="4114800" cy="5029200"/>
          </a:xfrm>
          <a:prstGeom prst="roundRect">
            <a:avLst/>
          </a:prstGeom>
          <a:solidFill>
            <a:srgbClr val="FFFFFF"/>
          </a:solidFill>
          <a:ln w="3810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0" y="1554480"/>
            <a:ext cx="3749039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1B4332"/>
                </a:solidFill>
                <a:latin typeface="Microsoft YaHei"/>
              </a:defRPr>
            </a:pPr>
            <a:r>
              <a:t>💡 生活化理解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0" y="2194560"/>
            <a:ext cx="3749039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40000"/>
              </a:lnSpc>
              <a:defRPr sz="1800">
                <a:solidFill>
                  <a:srgbClr val="666666"/>
                </a:solidFill>
                <a:latin typeface="Microsoft YaHei"/>
              </a:defRPr>
            </a:pPr>
            <a:r>
              <a:t>想象一个抽屉柜，每个抽屉对应一类工作：第一个抽屉装村里资料，第二个装学校资料，第三个装项目文件，第四个装账本，第五个是汇总报表。想找什么，直接拉开对应的抽屉即可。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4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  <a:latin typeface="Microsoft YaHei"/>
              </a:defRPr>
            </a:pPr>
            <a:r>
              <a:t>一句话总结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2103120"/>
            <a:ext cx="85340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0"/>
              </a:spcAft>
              <a:defRPr sz="2600">
                <a:solidFill>
                  <a:srgbClr val="FFFFFF"/>
                </a:solidFill>
                <a:latin typeface="Microsoft YaHei"/>
              </a:defRPr>
            </a:pPr>
            <a:r>
              <a:t>✓ 安全：单机离线，数据不外流</a:t>
            </a:r>
          </a:p>
          <a:p>
            <a:pPr algn="ctr">
              <a:spcAft>
                <a:spcPts val="2000"/>
              </a:spcAft>
              <a:defRPr sz="2600">
                <a:solidFill>
                  <a:srgbClr val="FFFFFF"/>
                </a:solidFill>
                <a:latin typeface="Microsoft YaHei"/>
              </a:defRPr>
            </a:pPr>
            <a:r>
              <a:t>✓ 全面：村、校、项目、资金全覆盖</a:t>
            </a:r>
          </a:p>
          <a:p>
            <a:pPr algn="ctr">
              <a:spcAft>
                <a:spcPts val="2000"/>
              </a:spcAft>
              <a:defRPr sz="2600">
                <a:solidFill>
                  <a:srgbClr val="FFFFFF"/>
                </a:solidFill>
                <a:latin typeface="Microsoft YaHei"/>
              </a:defRPr>
            </a:pPr>
            <a:r>
              <a:t>✓ 智能：审批、统计、预警自动化</a:t>
            </a:r>
          </a:p>
          <a:p>
            <a:pPr algn="ctr">
              <a:spcAft>
                <a:spcPts val="2000"/>
              </a:spcAft>
              <a:defRPr sz="2600">
                <a:solidFill>
                  <a:srgbClr val="FFFFFF"/>
                </a:solidFill>
                <a:latin typeface="Microsoft YaHei"/>
              </a:defRPr>
            </a:pPr>
            <a:r>
              <a:t>✓ 易用：界面直观，操作简单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