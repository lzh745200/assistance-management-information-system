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2926080"/>
            <a:ext cx="1828800" cy="457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>
                <a:solidFill>
                  <a:srgbClr val="FFFFFF"/>
                </a:solidFill>
                <a:latin typeface="Microsoft YaHei"/>
              </a:defRPr>
            </a:pPr>
            <a:r>
              <a:t>帮扶学校管理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004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D4AF37"/>
                </a:solidFill>
                <a:latin typeface="Microsoft YaHei"/>
              </a:defRPr>
            </a:pPr>
            <a:r>
              <a:t>助学兴教 · 点亮希望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943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1600">
                <a:solidFill>
                  <a:srgbClr val="FFFFFF"/>
                </a:solidFill>
                <a:latin typeface="Microsoft YaHei"/>
              </a:defRPr>
            </a:pPr>
            <a:r>
              <a:t>军队乡村振兴管理系统 v1.2.0 · 操作培训资料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59436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1600">
                <a:solidFill>
                  <a:srgbClr val="D4AF37"/>
                </a:solidFill>
                <a:latin typeface="Microsoft YaHei"/>
              </a:defRPr>
            </a:pPr>
            <a:r>
              <a:t>2026.04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0" cy="685800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0" y="228600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D4AF37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36576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B4332"/>
                </a:solidFill>
                <a:latin typeface="Microsoft YaHei"/>
              </a:defRPr>
            </a:pPr>
            <a:r>
              <a:t>帮扶学校管理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帮扶学校管理功能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371600" cy="457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200"/>
              </a:spcAft>
              <a:defRPr sz="2200">
                <a:solidFill>
                  <a:srgbClr val="1A1A1A"/>
                </a:solidFill>
                <a:latin typeface="Microsoft YaHei"/>
              </a:defRPr>
            </a:pPr>
            <a:r>
              <a:t>●  学校档案：名称、类型（小学/初中/高中）、师生人数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2200">
                <a:solidFill>
                  <a:srgbClr val="1A1A1A"/>
                </a:solidFill>
                <a:latin typeface="Microsoft YaHei"/>
              </a:defRPr>
            </a:pPr>
            <a:r>
              <a:t>●  帮扶项目：援建图书室、硬化操场、捐赠教学设备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2200">
                <a:solidFill>
                  <a:srgbClr val="1A1A1A"/>
                </a:solidFill>
                <a:latin typeface="Microsoft YaHei"/>
              </a:defRPr>
            </a:pPr>
            <a:r>
              <a:t>●  资助学生：困难学生名单、资助金额、资助学期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2200">
                <a:solidFill>
                  <a:srgbClr val="1A1A1A"/>
                </a:solidFill>
                <a:latin typeface="Microsoft YaHei"/>
              </a:defRPr>
            </a:pPr>
            <a:r>
              <a:t>●  成效跟踪：学生成绩变化、辍学率变化、升学率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589520" y="1371600"/>
            <a:ext cx="4114800" cy="50292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0" y="1554480"/>
            <a:ext cx="374903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B4332"/>
                </a:solidFill>
                <a:latin typeface="Microsoft YaHei"/>
              </a:defRPr>
            </a:pPr>
            <a:r>
              <a:t>💡 生活化理解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194560"/>
            <a:ext cx="3749039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1800">
                <a:solidFill>
                  <a:srgbClr val="666666"/>
                </a:solidFill>
                <a:latin typeface="Microsoft YaHei"/>
              </a:defRPr>
            </a:pPr>
            <a:r>
              <a:t>这个功能就像一本'爱心助学账本'。哪所学校得到了什么帮助、哪些学生收到了资助、效果怎么样，翻开账本就能找到明细。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如何添加一所新学校？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371600" cy="457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200"/>
              </a:spcAft>
              <a:defRPr sz="2200">
                <a:solidFill>
                  <a:srgbClr val="1A1A1A"/>
                </a:solidFill>
                <a:latin typeface="Microsoft YaHei"/>
              </a:defRPr>
            </a:pPr>
            <a:r>
              <a:t>●  Step 1：进入'帮扶学校'菜单，点击'新增学校'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2200">
                <a:solidFill>
                  <a:srgbClr val="1A1A1A"/>
                </a:solidFill>
                <a:latin typeface="Microsoft YaHei"/>
              </a:defRPr>
            </a:pPr>
            <a:r>
              <a:t>●  Step 2：填写学校名称、地址、办学类型、师生人数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2200">
                <a:solidFill>
                  <a:srgbClr val="1A1A1A"/>
                </a:solidFill>
                <a:latin typeface="Microsoft YaHei"/>
              </a:defRPr>
            </a:pPr>
            <a:r>
              <a:t>●  Step 3：上传校门照片和校园环境照片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2200">
                <a:solidFill>
                  <a:srgbClr val="1A1A1A"/>
                </a:solidFill>
                <a:latin typeface="Microsoft YaHei"/>
              </a:defRPr>
            </a:pPr>
            <a:r>
              <a:t>●  Step 4：保存后自动关联到对应的帮扶村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589520" y="1371600"/>
            <a:ext cx="4114800" cy="50292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0" y="1554480"/>
            <a:ext cx="374903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B4332"/>
                </a:solidFill>
                <a:latin typeface="Microsoft YaHei"/>
              </a:defRPr>
            </a:pPr>
            <a:r>
              <a:t>💡 生活化理解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194560"/>
            <a:ext cx="3749039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1800">
                <a:solidFill>
                  <a:srgbClr val="666666"/>
                </a:solidFill>
                <a:latin typeface="Microsoft YaHei"/>
              </a:defRPr>
            </a:pPr>
            <a:r>
              <a:t>和在通讯录里添加一个新单位很像：写下名字和地址，备注一下有什么合作往来，之后双方的每一次互动都可以在这里追加记录。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资助学生管理怎么做？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371600" cy="457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200"/>
              </a:spcAft>
              <a:defRPr sz="2200">
                <a:solidFill>
                  <a:srgbClr val="1A1A1A"/>
                </a:solidFill>
                <a:latin typeface="Microsoft YaHei"/>
              </a:defRPr>
            </a:pPr>
            <a:r>
              <a:t>●  建立名单：录入受助学生姓名、年级、家庭情况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2200">
                <a:solidFill>
                  <a:srgbClr val="1A1A1A"/>
                </a:solidFill>
                <a:latin typeface="Microsoft YaHei"/>
              </a:defRPr>
            </a:pPr>
            <a:r>
              <a:t>●  发放记录：记录每笔资助金额、发放时间、发放人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2200">
                <a:solidFill>
                  <a:srgbClr val="1A1A1A"/>
                </a:solidFill>
                <a:latin typeface="Microsoft YaHei"/>
              </a:defRPr>
            </a:pPr>
            <a:r>
              <a:t>●  学期跟踪：每学期更新学生的学习情况和在校状态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2200">
                <a:solidFill>
                  <a:srgbClr val="1A1A1A"/>
                </a:solidFill>
                <a:latin typeface="Microsoft YaHei"/>
              </a:defRPr>
            </a:pPr>
            <a:r>
              <a:t>●  隐私保护：敏感信息仅限授权人员查看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589520" y="1371600"/>
            <a:ext cx="4114800" cy="50292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0" y="1554480"/>
            <a:ext cx="374903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B4332"/>
                </a:solidFill>
                <a:latin typeface="Microsoft YaHei"/>
              </a:defRPr>
            </a:pPr>
            <a:r>
              <a:t>💡 生活化理解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194560"/>
            <a:ext cx="3749039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1800">
                <a:solidFill>
                  <a:srgbClr val="666666"/>
                </a:solidFill>
                <a:latin typeface="Microsoft YaHei"/>
              </a:defRPr>
            </a:pPr>
            <a:r>
              <a:t>每一笔助学金的流向都像银行转账一样有记录。家长、学校、部队三方都能看到自己关心的那部分信息，确保助学金发到真正需要的孩子手里。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核心价值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103120"/>
            <a:ext cx="85340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0"/>
              </a:spcAft>
              <a:defRPr sz="2600">
                <a:solidFill>
                  <a:srgbClr val="FFFFFF"/>
                </a:solidFill>
                <a:latin typeface="Microsoft YaHei"/>
              </a:defRPr>
            </a:pPr>
            <a:r>
              <a:t>✓ 档案完整：从学校到学生全覆盖</a:t>
            </a:r>
          </a:p>
          <a:p>
            <a:pPr algn="ctr">
              <a:spcAft>
                <a:spcPts val="2000"/>
              </a:spcAft>
              <a:defRPr sz="2600">
                <a:solidFill>
                  <a:srgbClr val="FFFFFF"/>
                </a:solidFill>
                <a:latin typeface="Microsoft YaHei"/>
              </a:defRPr>
            </a:pPr>
            <a:r>
              <a:t>✓ 跟踪到位：从资助到成效可追溯</a:t>
            </a:r>
          </a:p>
          <a:p>
            <a:pPr algn="ctr">
              <a:spcAft>
                <a:spcPts val="2000"/>
              </a:spcAft>
              <a:defRPr sz="2600">
                <a:solidFill>
                  <a:srgbClr val="FFFFFF"/>
                </a:solidFill>
                <a:latin typeface="Microsoft YaHei"/>
              </a:defRPr>
            </a:pPr>
            <a:r>
              <a:t>✓ 关爱传递：让每一分帮扶都落到实处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