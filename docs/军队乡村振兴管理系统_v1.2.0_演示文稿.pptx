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军队乡村振兴管理系统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8962E"/>
                </a:solidFill>
                <a:latin typeface="Microsoft YaHei"/>
              </a:defRPr>
            </a:pPr>
            <a:r>
              <a:t>Military Rural Revitalization Management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931920"/>
            <a:ext cx="393192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976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BBAA"/>
                </a:solidFill>
                <a:latin typeface="Microsoft YaHei"/>
              </a:defRPr>
            </a:pPr>
            <a:r>
              <a:t>版本 v1.2.0  |  2026年4月  |  生产就绪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9988"/>
                </a:solidFill>
                <a:latin typeface="Microsoft YaHei"/>
              </a:defRPr>
            </a:pPr>
            <a:r>
              <a:t>完全离线的单机版桌面应用 · 数据安全 · 高效便捷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2D"/>
                </a:solidFill>
                <a:latin typeface="Microsoft YaHei"/>
              </a:defRPr>
            </a:pPr>
            <a:r>
              <a:t>项目概览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700">
                <a:solidFill>
                  <a:srgbClr val="1A1A1A"/>
                </a:solidFill>
                <a:latin typeface="Microsoft YaHei"/>
              </a:defRPr>
            </a:pPr>
            <a:r>
              <a:t>军队乡村振兴管理系统是一款专为军队参与乡村振兴工作设计的</a:t>
            </a:r>
          </a:p>
          <a:p>
            <a:pPr>
              <a:spcAft>
                <a:spcPts val="1700"/>
              </a:spcAft>
              <a:defRPr sz="1700">
                <a:solidFill>
                  <a:srgbClr val="1A1A1A"/>
                </a:solidFill>
                <a:latin typeface="Microsoft YaHei"/>
              </a:defRPr>
            </a:pPr>
            <a:r>
              <a:t>完全离线单机版桌面应用。</a:t>
            </a:r>
          </a:p>
          <a:p>
            <a:pPr>
              <a:spcAft>
                <a:spcPts val="1700"/>
              </a:spcAft>
              <a:defRPr sz="17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1700"/>
              </a:spcAft>
              <a:defRPr sz="1700">
                <a:solidFill>
                  <a:srgbClr val="1A1A1A"/>
                </a:solidFill>
                <a:latin typeface="Microsoft YaHei"/>
              </a:defRPr>
            </a:pPr>
            <a:r>
              <a:t>系统覆盖帮扶村管理、项目管理、资金管理、政策法规、</a:t>
            </a:r>
          </a:p>
          <a:p>
            <a:pPr>
              <a:spcAft>
                <a:spcPts val="1700"/>
              </a:spcAft>
              <a:defRPr sz="1700">
                <a:solidFill>
                  <a:srgbClr val="1A1A1A"/>
                </a:solidFill>
                <a:latin typeface="Microsoft YaHei"/>
              </a:defRPr>
            </a:pPr>
            <a:r>
              <a:t>数据统计分析等全流程业务，支持多级组织架构和角色权限管理。</a:t>
            </a:r>
          </a:p>
          <a:p>
            <a:pPr>
              <a:spcAft>
                <a:spcPts val="1700"/>
              </a:spcAft>
              <a:defRPr sz="1700">
                <a:solidFill>
                  <a:srgbClr val="1A1A1A"/>
                </a:solidFill>
                <a:latin typeface="Microsoft YaHei"/>
              </a:defRPr>
            </a:pPr>
          </a:p>
          <a:p>
            <a:pPr>
              <a:spcAft>
                <a:spcPts val="1700"/>
              </a:spcAft>
              <a:defRPr sz="1700">
                <a:solidFill>
                  <a:srgbClr val="1A1A1A"/>
                </a:solidFill>
                <a:latin typeface="Microsoft YaHei"/>
              </a:defRPr>
            </a:pPr>
            <a:r>
              <a:t>采用 Electron 桌面壳 + FastAPI 后端 + Vue 3 前端架构，</a:t>
            </a:r>
          </a:p>
          <a:p>
            <a:pPr>
              <a:spcAft>
                <a:spcPts val="1700"/>
              </a:spcAft>
              <a:defRPr sz="1700">
                <a:solidFill>
                  <a:srgbClr val="1A1A1A"/>
                </a:solidFill>
                <a:latin typeface="Microsoft YaHei"/>
              </a:defRPr>
            </a:pPr>
            <a:r>
              <a:t>确保数据安全和操作便捷性，适用于军队内部网络环境。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188720"/>
            <a:ext cx="3200400" cy="1097280"/>
          </a:xfrm>
          <a:prstGeom prst="rect">
            <a:avLst/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325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2D"/>
                </a:solidFill>
                <a:latin typeface="Microsoft YaHei"/>
              </a:defRPr>
            </a:pPr>
            <a:r>
              <a:t>v1.2.0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7830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当前版本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2514600"/>
            <a:ext cx="3200400" cy="1097280"/>
          </a:xfrm>
          <a:prstGeom prst="rect">
            <a:avLst/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2D"/>
                </a:solidFill>
                <a:latin typeface="Microsoft YaHei"/>
              </a:defRPr>
            </a:pPr>
            <a:r>
              <a:t>2812+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310896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后端测试用例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840480"/>
            <a:ext cx="3200400" cy="1097280"/>
          </a:xfrm>
          <a:prstGeom prst="rect">
            <a:avLst/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3977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2D"/>
                </a:solidFill>
                <a:latin typeface="Microsoft YaHei"/>
              </a:defRPr>
            </a:pPr>
            <a:r>
              <a:t>1449+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4348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前端测试用例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5166359"/>
            <a:ext cx="3200400" cy="1097280"/>
          </a:xfrm>
          <a:prstGeom prst="rect">
            <a:avLst/>
          </a:prstGeom>
          <a:solidFill>
            <a:srgbClr val="F0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53035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3A2D"/>
                </a:solidFill>
                <a:latin typeface="Microsoft YaHei"/>
              </a:defRPr>
            </a:pPr>
            <a:r>
              <a:t>100/100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57607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系统健康评分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2D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1051560"/>
          </a:xfrm>
          <a:prstGeom prst="rect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桌面壳层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EEDD"/>
                </a:solidFill>
                <a:latin typeface="Microsoft YaHei"/>
              </a:defRPr>
            </a:pPr>
            <a:r>
              <a:t>Electron 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508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窗口管理 · 系统托盘 · 自动更新 · 进程守护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606040"/>
            <a:ext cx="10698480" cy="1051560"/>
          </a:xfrm>
          <a:prstGeom prst="rect">
            <a:avLst/>
          </a:prstGeom>
          <a:solidFill>
            <a:srgbClr val="2D5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前端层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632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EEDD"/>
                </a:solidFill>
                <a:latin typeface="Microsoft YaHei"/>
              </a:defRPr>
            </a:pPr>
            <a:r>
              <a:t>Vue 3 + TypeScript + Element Plus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7432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响应式UI · 组合式API · Pinia状态管理 · ECharts可视化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10698480" cy="1051560"/>
          </a:xfrm>
          <a:prstGeom prst="rect">
            <a:avLst/>
          </a:prstGeom>
          <a:solidFill>
            <a:srgbClr val="4A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31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后端层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EEDD"/>
                </a:solidFill>
                <a:latin typeface="Microsoft YaHei"/>
              </a:defRPr>
            </a:pPr>
            <a:r>
              <a:t>Python 3.11 + FastAPI + SQLAlchemy 2.0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97764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RESTful API · DDD架构 · JWT认证 · 数据验证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074920"/>
            <a:ext cx="10698480" cy="1051560"/>
          </a:xfrm>
          <a:prstGeom prst="rect">
            <a:avLst/>
          </a:prstGeom>
          <a:solidFill>
            <a:srgbClr val="6BA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1663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532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EEDD"/>
                </a:solidFill>
                <a:latin typeface="Microsoft YaHei"/>
              </a:defRPr>
            </a:pPr>
            <a:r>
              <a:t>SQLite + diskcache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5212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本地数据库 · 磁盘缓存 · Alembic迁移 · 自动备份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400800"/>
            <a:ext cx="1280160" cy="365760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2D"/>
                </a:solidFill>
                <a:latin typeface="Microsoft YaHei"/>
              </a:defRPr>
            </a:pPr>
            <a:r>
              <a:t>离线优先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48840" y="6400800"/>
            <a:ext cx="1280160" cy="365760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4884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2D"/>
                </a:solidFill>
                <a:latin typeface="Microsoft YaHei"/>
              </a:defRPr>
            </a:pPr>
            <a:r>
              <a:t>DDD架构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66160" y="6400800"/>
            <a:ext cx="1280160" cy="365760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616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2D"/>
                </a:solidFill>
                <a:latin typeface="Microsoft YaHei"/>
              </a:defRPr>
            </a:pPr>
            <a:r>
              <a:t>JWT认证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83480" y="6400800"/>
            <a:ext cx="1280160" cy="365760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8348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2D"/>
                </a:solidFill>
                <a:latin typeface="Microsoft YaHei"/>
              </a:defRPr>
            </a:pPr>
            <a:r>
              <a:t>RBAC权限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6400800"/>
            <a:ext cx="1280160" cy="365760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2D"/>
                </a:solidFill>
                <a:latin typeface="Microsoft YaHei"/>
              </a:defRPr>
            </a:pPr>
            <a:r>
              <a:t>自动迁移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20" y="6400800"/>
            <a:ext cx="1280160" cy="365760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1812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2D"/>
                </a:solidFill>
                <a:latin typeface="Microsoft YaHei"/>
              </a:defRPr>
            </a:pPr>
            <a:r>
              <a:t>审计日志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35440" y="6400800"/>
            <a:ext cx="1280160" cy="365760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2D"/>
                </a:solidFill>
                <a:latin typeface="Microsoft YaHei"/>
              </a:defRPr>
            </a:pPr>
            <a:r>
              <a:t>数据加密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652760" y="6400800"/>
            <a:ext cx="1280160" cy="365760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652760" y="64008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B3A2D"/>
                </a:solidFill>
                <a:latin typeface="Microsoft YaHei"/>
              </a:defRPr>
            </a:pPr>
            <a:r>
              <a:t>批量操作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2D"/>
                </a:solidFill>
                <a:latin typeface="Microsoft YaHei"/>
              </a:defRPr>
            </a:pPr>
            <a:r>
              <a:t>核心功能模块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2651760" cy="2468880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1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2D"/>
                </a:solidFill>
                <a:latin typeface="Microsoft YaHei"/>
              </a:defRPr>
            </a:pPr>
            <a:r>
              <a:t>🏘️  帮扶村管理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9659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t>村庄基础信息、年度数据</a:t>
            </a:r>
            <a:br/>
            <a:r>
              <a:t>跟踪、地理信息管理</a:t>
            </a:r>
            <a:br/>
            <a:r>
              <a:t>支持批量导入导出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280160"/>
            <a:ext cx="2651760" cy="2468880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41731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2D"/>
                </a:solidFill>
                <a:latin typeface="Microsoft YaHei"/>
              </a:defRPr>
            </a:pPr>
            <a:r>
              <a:t>📋  项目管理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9659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t>帮扶项目全生命周期管理</a:t>
            </a:r>
            <a:br/>
            <a:r>
              <a:t>进度跟踪、资金使用监控</a:t>
            </a:r>
            <a:br/>
            <a:r>
              <a:t>项目评估和审计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280160"/>
            <a:ext cx="2651760" cy="2468880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41731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2D"/>
                </a:solidFill>
                <a:latin typeface="Microsoft YaHei"/>
              </a:defRPr>
            </a:pPr>
            <a:r>
              <a:t>💰  资金管理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9659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t>帮扶资金台账</a:t>
            </a:r>
            <a:br/>
            <a:r>
              <a:t>多级审批工作流</a:t>
            </a:r>
            <a:br/>
            <a:r>
              <a:t>资金使用分析和报表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0" y="1280160"/>
            <a:ext cx="2651760" cy="2468880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41731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2D"/>
                </a:solidFill>
                <a:latin typeface="Microsoft YaHei"/>
              </a:defRPr>
            </a:pPr>
            <a:r>
              <a:t>🏛️  组织管理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9659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t>军队单位组织架构</a:t>
            </a:r>
            <a:br/>
            <a:r>
              <a:t>多级层级管理</a:t>
            </a:r>
            <a:br/>
            <a:r>
              <a:t>数据权限隔离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023360"/>
            <a:ext cx="2651760" cy="2468880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2D"/>
                </a:solidFill>
                <a:latin typeface="Microsoft YaHei"/>
              </a:defRPr>
            </a:pPr>
            <a:r>
              <a:t>📜  政策法规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7091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t>政策文件管理</a:t>
            </a:r>
            <a:br/>
            <a:r>
              <a:t>分类检索和全文搜索</a:t>
            </a:r>
            <a:br/>
            <a:r>
              <a:t>政策落实跟踪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74720" y="4023360"/>
            <a:ext cx="2651760" cy="2468880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79" y="4160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2D"/>
                </a:solidFill>
                <a:latin typeface="Microsoft YaHei"/>
              </a:defRPr>
            </a:pPr>
            <a:r>
              <a:t>📊  数据统计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7091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t>多维度数据分析</a:t>
            </a:r>
            <a:br/>
            <a:r>
              <a:t>可视化图表展示</a:t>
            </a:r>
            <a:br/>
            <a:r>
              <a:t>自定义报表生成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4023360"/>
            <a:ext cx="2651760" cy="2468880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160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2D"/>
                </a:solidFill>
                <a:latin typeface="Microsoft YaHei"/>
              </a:defRPr>
            </a:pPr>
            <a:r>
              <a:t>⚙️  系统管理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7091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t>用户和角色权限管理</a:t>
            </a:r>
            <a:br/>
            <a:r>
              <a:t>菜单权限配置</a:t>
            </a:r>
            <a:br/>
            <a:r>
              <a:t>审计日志和备份恢复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0" y="4023360"/>
            <a:ext cx="2651760" cy="2468880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4160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B3A2D"/>
                </a:solidFill>
                <a:latin typeface="Microsoft YaHei"/>
              </a:defRPr>
            </a:pPr>
            <a:r>
              <a:t>🔄  数据同步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709160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1A"/>
                </a:solidFill>
                <a:latin typeface="Microsoft YaHei"/>
              </a:defRPr>
            </a:pPr>
            <a:r>
              <a:t>增量数据包导入导出</a:t>
            </a:r>
            <a:br/>
            <a:r>
              <a:t>冲突检测和处理</a:t>
            </a:r>
            <a:br/>
            <a:r>
              <a:t>离线地图瓦片管理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2D"/>
                </a:solidFill>
                <a:latin typeface="Microsoft YaHei"/>
              </a:defRPr>
            </a:pPr>
            <a:r>
              <a:t>系统质量与健康状态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32004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697480" cy="2103120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B3A2D"/>
                </a:solidFill>
                <a:latin typeface="Microsoft YaHei"/>
              </a:defRPr>
            </a:pPr>
            <a:r>
              <a:t>2812 / 2812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774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1A"/>
                </a:solidFill>
                <a:latin typeface="Microsoft YaHei"/>
              </a:defRPr>
            </a:pPr>
            <a:r>
              <a:t>后端测试通过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346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pytest · 覆盖率 &gt; 80%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371600"/>
            <a:ext cx="2697480" cy="2103120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6459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B3A2D"/>
                </a:solidFill>
                <a:latin typeface="Microsoft YaHei"/>
              </a:defRPr>
            </a:pPr>
            <a:r>
              <a:t>1449 / 1449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3774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1A"/>
                </a:solidFill>
                <a:latin typeface="Microsoft YaHei"/>
              </a:defRPr>
            </a:pPr>
            <a:r>
              <a:t>前端测试通过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8346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Vitest · TypeScript 0 错误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59" y="1371600"/>
            <a:ext cx="2697480" cy="2103120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459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B3A2D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3774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1A"/>
                </a:solidFill>
                <a:latin typeface="Microsoft YaHei"/>
              </a:defRPr>
            </a:pPr>
            <a:r>
              <a:t>代码质量问题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8346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Flake8 0 · ESLint 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19" y="1371600"/>
            <a:ext cx="2697480" cy="2103120"/>
          </a:xfrm>
          <a:prstGeom prst="rect">
            <a:avLst/>
          </a:prstGeom>
          <a:solidFill>
            <a:srgbClr val="F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0" y="1645920"/>
            <a:ext cx="2423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1B3A2D"/>
                </a:solidFill>
                <a:latin typeface="Microsoft YaHei"/>
              </a:defRPr>
            </a:pPr>
            <a:r>
              <a:t>100/100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377440"/>
            <a:ext cx="2423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1A"/>
                </a:solidFill>
                <a:latin typeface="Microsoft YaHei"/>
              </a:defRPr>
            </a:pPr>
            <a:r>
              <a:t>系统健康评分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83464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66"/>
                </a:solidFill>
                <a:latin typeface="Microsoft YaHei"/>
              </a:defRPr>
            </a:pPr>
            <a:r>
              <a:t>所有模块正常运行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2D"/>
                </a:solidFill>
                <a:latin typeface="Microsoft YaHei"/>
              </a:defRPr>
            </a:pPr>
            <a:r>
              <a:t>核心数据表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526280"/>
            <a:ext cx="2651760" cy="384048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537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users (用户)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74720" y="4526280"/>
            <a:ext cx="2651760" cy="384048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45537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villages (帮扶村)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4526280"/>
            <a:ext cx="2651760" cy="384048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45537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projects (项目)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4526280"/>
            <a:ext cx="2651760" cy="384048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455371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organizations (组织)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029200"/>
            <a:ext cx="2651760" cy="384048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0566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funds (资金)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0" y="5029200"/>
            <a:ext cx="2651760" cy="384048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74720" y="50566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policies (政策)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029200"/>
            <a:ext cx="2651760" cy="384048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50566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audit_logs (审计)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44000" y="5029200"/>
            <a:ext cx="2651760" cy="384048"/>
          </a:xfrm>
          <a:prstGeom prst="rect">
            <a:avLst/>
          </a:prstGeom>
          <a:solidFill>
            <a:srgbClr val="E8F0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50566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1A1A1A"/>
                </a:solidFill>
                <a:latin typeface="Microsoft YaHei"/>
              </a:defRPr>
            </a:pPr>
            <a:r>
              <a:t>schools (学校)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2D"/>
                </a:solidFill>
                <a:latin typeface="Microsoft YaHei"/>
              </a:defRPr>
            </a:pPr>
            <a:r>
              <a:t>v1.2.0 最新修复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080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Microsoft YaHei"/>
              </a:defRPr>
            </a:pPr>
            <a:r>
              <a:t>启动脚本编码修复 · UserInfo菜单属性修复 · 33个冗余文档清理 · 44个脚本编码统一 · 健康检查优化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B3A2D"/>
                </a:solidFill>
                <a:latin typeface="Microsoft YaHei"/>
              </a:defRPr>
            </a:pPr>
            <a:r>
              <a:t>部署与交付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28600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280160"/>
            <a:ext cx="3566160" cy="3200400"/>
          </a:xfrm>
          <a:prstGeom prst="rect">
            <a:avLst/>
          </a:prstGeom>
          <a:solidFill>
            <a:srgbClr val="2D5A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463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Windows 安装包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F5EE"/>
                </a:solidFill>
                <a:latin typeface="Microsoft YaHei"/>
              </a:defRPr>
            </a:pPr>
            <a:r>
              <a:t>NSIS 安装程序 (.exe)</a:t>
            </a:r>
            <a:br/>
            <a:r>
              <a:t>包含 VC++ 和 WebView2 运行时</a:t>
            </a:r>
            <a:br/>
            <a:r>
              <a:t>支持 64位 / 32位 / 联合安装包</a:t>
            </a:r>
            <a:br/>
            <a:r>
              <a:t>便携版免安装选项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280160"/>
            <a:ext cx="3566160" cy="3200400"/>
          </a:xfrm>
          <a:prstGeom prst="rect">
            <a:avLst/>
          </a:prstGeom>
          <a:solidFill>
            <a:srgbClr val="4A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63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Linux DEB 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10312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F5EE"/>
                </a:solidFill>
                <a:latin typeface="Microsoft YaHei"/>
              </a:defRPr>
            </a:pPr>
            <a:r>
              <a:t>Debian/麒麟 V10 (.deb)</a:t>
            </a:r>
            <a:br/>
            <a:r>
              <a:t>ARM64 架构原生支持</a:t>
            </a:r>
            <a:br/>
            <a:r>
              <a:t>systemd 服务集成</a:t>
            </a:r>
            <a:br/>
            <a:r>
              <a:t>Docker 交叉编译构建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280160"/>
            <a:ext cx="3566160" cy="3200400"/>
          </a:xfrm>
          <a:prstGeom prst="rect">
            <a:avLst/>
          </a:prstGeom>
          <a:solidFill>
            <a:srgbClr val="5A7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39" y="14630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开发环境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103120"/>
            <a:ext cx="3017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EF5EE"/>
                </a:solidFill>
                <a:latin typeface="Microsoft YaHei"/>
              </a:defRPr>
            </a:pPr>
            <a:r>
              <a:t>一键启动脚本 (Windows .bat)</a:t>
            </a:r>
            <a:br/>
            <a:r>
              <a:t>venv 虚拟环境隔离</a:t>
            </a:r>
            <a:br/>
            <a:r>
              <a:t>热重载开发服务器</a:t>
            </a:r>
            <a:br/>
            <a:r>
              <a:t>完整测试套件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846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B3A2D"/>
                </a:solidFill>
                <a:latin typeface="Microsoft YaHei"/>
              </a:defRPr>
            </a:pPr>
            <a:r>
              <a:t>快速启动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349240"/>
            <a:ext cx="6858000" cy="502920"/>
          </a:xfrm>
          <a:prstGeom prst="rect">
            <a:avLst/>
          </a:prstGeom>
          <a:solidFill>
            <a:srgbClr val="1B3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376672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onsolas"/>
              </a:defRPr>
            </a:pPr>
            <a:r>
              <a:t>$  scripts\start-all.bat          # Windows 一键启动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46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B3A2D"/>
                </a:solidFill>
                <a:latin typeface="Microsoft YaHei"/>
              </a:defRPr>
            </a:pPr>
            <a:r>
              <a:t>系统要求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53492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Microsoft YaHei"/>
              </a:defRPr>
            </a:pPr>
            <a:r>
              <a:t>Windows 10/11 64位 · 4GB+ RAM</a:t>
            </a:r>
            <a:br/>
            <a:r>
              <a:t>Python 3.11+ · Node.js 18+</a:t>
            </a:r>
            <a:br/>
            <a:r>
              <a:t>2GB 可用磁盘空间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Microsoft YaHei"/>
              </a:defRPr>
            </a:pPr>
            <a:r>
              <a:t>感谢使用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C8962E"/>
                </a:solidFill>
                <a:latin typeface="Microsoft YaHei"/>
              </a:defRPr>
            </a:pPr>
            <a:r>
              <a:t>军队乡村振兴管理系统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931920"/>
            <a:ext cx="3017520" cy="36576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4297680"/>
            <a:ext cx="7589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600">
                <a:solidFill>
                  <a:srgbClr val="AABBAA"/>
                </a:solidFill>
                <a:latin typeface="Microsoft YaHei"/>
              </a:defRPr>
            </a:pPr>
            <a:r>
              <a:t>版本 v1.2.0 · 2026年4月</a:t>
            </a:r>
          </a:p>
          <a:p>
            <a:pPr algn="ctr">
              <a:spcAft>
                <a:spcPts val="1600"/>
              </a:spcAft>
              <a:defRPr sz="1600">
                <a:solidFill>
                  <a:srgbClr val="AABBAA"/>
                </a:solidFill>
                <a:latin typeface="Microsoft YaHei"/>
              </a:defRPr>
            </a:pPr>
            <a:r>
              <a:t>系统健康评分: 100/100  |  后端测试: 2812 通过  |  前端测试: 1449 通过</a:t>
            </a:r>
          </a:p>
          <a:p>
            <a:pPr algn="ctr">
              <a:spcAft>
                <a:spcPts val="1600"/>
              </a:spcAft>
              <a:defRPr sz="1600">
                <a:solidFill>
                  <a:srgbClr val="AABBAA"/>
                </a:solidFill>
                <a:latin typeface="Microsoft YaHei"/>
              </a:defRPr>
            </a:pPr>
          </a:p>
          <a:p>
            <a:pPr algn="ctr">
              <a:spcAft>
                <a:spcPts val="1600"/>
              </a:spcAft>
              <a:defRPr sz="1600">
                <a:solidFill>
                  <a:srgbClr val="AABBAA"/>
                </a:solidFill>
                <a:latin typeface="Microsoft YaHei"/>
              </a:defRPr>
            </a:pPr>
            <a:r>
              <a:t>完全离线 · 数据安全 · 高效便捷 · 生产就绪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896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